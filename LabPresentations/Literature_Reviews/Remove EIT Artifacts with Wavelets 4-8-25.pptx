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56" r:id="rId2"/>
    <p:sldId id="266" r:id="rId3"/>
    <p:sldId id="267" r:id="rId4"/>
    <p:sldId id="274" r:id="rId5"/>
    <p:sldId id="268" r:id="rId6"/>
    <p:sldId id="273" r:id="rId7"/>
    <p:sldId id="269" r:id="rId8"/>
    <p:sldId id="272" r:id="rId9"/>
    <p:sldId id="270" r:id="rId10"/>
    <p:sldId id="271" r:id="rId11"/>
    <p:sldId id="275" r:id="rId12"/>
    <p:sldId id="276" r:id="rId13"/>
    <p:sldId id="27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94617D-F3FC-4CB7-9EC5-CDA664DA8238}" v="2" dt="2025-04-08T17:15:44.5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7896" autoAdjust="0"/>
  </p:normalViewPr>
  <p:slideViewPr>
    <p:cSldViewPr snapToGrid="0">
      <p:cViewPr varScale="1">
        <p:scale>
          <a:sx n="82" d="100"/>
          <a:sy n="82" d="100"/>
        </p:scale>
        <p:origin x="1076"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r Howard" userId="91ab63ab47daf7fe" providerId="LiveId" clId="{DC94617D-F3FC-4CB7-9EC5-CDA664DA8238}"/>
    <pc:docChg chg="undo custSel delSld modSld">
      <pc:chgData name="Kyler Howard" userId="91ab63ab47daf7fe" providerId="LiveId" clId="{DC94617D-F3FC-4CB7-9EC5-CDA664DA8238}" dt="2025-04-08T19:24:53.372" v="178" actId="20577"/>
      <pc:docMkLst>
        <pc:docMk/>
      </pc:docMkLst>
      <pc:sldChg chg="delSp modSp mod">
        <pc:chgData name="Kyler Howard" userId="91ab63ab47daf7fe" providerId="LiveId" clId="{DC94617D-F3FC-4CB7-9EC5-CDA664DA8238}" dt="2025-04-08T19:24:53.372" v="178" actId="20577"/>
        <pc:sldMkLst>
          <pc:docMk/>
          <pc:sldMk cId="467359199" sldId="256"/>
        </pc:sldMkLst>
        <pc:spChg chg="mod">
          <ac:chgData name="Kyler Howard" userId="91ab63ab47daf7fe" providerId="LiveId" clId="{DC94617D-F3FC-4CB7-9EC5-CDA664DA8238}" dt="2025-04-08T19:24:41.152" v="172" actId="21"/>
          <ac:spMkLst>
            <pc:docMk/>
            <pc:sldMk cId="467359199" sldId="256"/>
            <ac:spMk id="2" creationId="{4BA40642-3C30-E66B-61A0-8393FFC0A3D5}"/>
          </ac:spMkLst>
        </pc:spChg>
        <pc:spChg chg="mod">
          <ac:chgData name="Kyler Howard" userId="91ab63ab47daf7fe" providerId="LiveId" clId="{DC94617D-F3FC-4CB7-9EC5-CDA664DA8238}" dt="2025-04-08T19:24:53.372" v="178" actId="20577"/>
          <ac:spMkLst>
            <pc:docMk/>
            <pc:sldMk cId="467359199" sldId="256"/>
            <ac:spMk id="3" creationId="{F1D36D8A-F767-49F3-250C-E5CE59CFEFAF}"/>
          </ac:spMkLst>
        </pc:spChg>
        <pc:spChg chg="del mod">
          <ac:chgData name="Kyler Howard" userId="91ab63ab47daf7fe" providerId="LiveId" clId="{DC94617D-F3FC-4CB7-9EC5-CDA664DA8238}" dt="2025-04-08T17:12:08.388" v="27" actId="478"/>
          <ac:spMkLst>
            <pc:docMk/>
            <pc:sldMk cId="467359199" sldId="256"/>
            <ac:spMk id="12" creationId="{E448E5A5-0AD2-9811-1D07-4CE50CCD3A94}"/>
          </ac:spMkLst>
        </pc:spChg>
      </pc:sldChg>
      <pc:sldChg chg="delSp del mod">
        <pc:chgData name="Kyler Howard" userId="91ab63ab47daf7fe" providerId="LiveId" clId="{DC94617D-F3FC-4CB7-9EC5-CDA664DA8238}" dt="2025-04-08T17:12:25.857" v="29" actId="47"/>
        <pc:sldMkLst>
          <pc:docMk/>
          <pc:sldMk cId="3731034875" sldId="264"/>
        </pc:sldMkLst>
        <pc:spChg chg="del">
          <ac:chgData name="Kyler Howard" userId="91ab63ab47daf7fe" providerId="LiveId" clId="{DC94617D-F3FC-4CB7-9EC5-CDA664DA8238}" dt="2025-04-08T17:12:13.473" v="28" actId="478"/>
          <ac:spMkLst>
            <pc:docMk/>
            <pc:sldMk cId="3731034875" sldId="264"/>
            <ac:spMk id="18" creationId="{ACDCCEF3-7747-711B-C6CA-5F6EEB111CF3}"/>
          </ac:spMkLst>
        </pc:spChg>
      </pc:sldChg>
      <pc:sldChg chg="modSp mod">
        <pc:chgData name="Kyler Howard" userId="91ab63ab47daf7fe" providerId="LiveId" clId="{DC94617D-F3FC-4CB7-9EC5-CDA664DA8238}" dt="2025-04-08T17:13:24.879" v="90" actId="20577"/>
        <pc:sldMkLst>
          <pc:docMk/>
          <pc:sldMk cId="1378838698" sldId="267"/>
        </pc:sldMkLst>
        <pc:spChg chg="mod">
          <ac:chgData name="Kyler Howard" userId="91ab63ab47daf7fe" providerId="LiveId" clId="{DC94617D-F3FC-4CB7-9EC5-CDA664DA8238}" dt="2025-04-08T17:13:24.879" v="90" actId="20577"/>
          <ac:spMkLst>
            <pc:docMk/>
            <pc:sldMk cId="1378838698" sldId="267"/>
            <ac:spMk id="3" creationId="{26255A2F-A76B-ABAD-40A7-1476D4C8DAA5}"/>
          </ac:spMkLst>
        </pc:spChg>
      </pc:sldChg>
      <pc:sldChg chg="addSp modSp mod">
        <pc:chgData name="Kyler Howard" userId="91ab63ab47daf7fe" providerId="LiveId" clId="{DC94617D-F3FC-4CB7-9EC5-CDA664DA8238}" dt="2025-04-08T17:15:54.559" v="101" actId="1076"/>
        <pc:sldMkLst>
          <pc:docMk/>
          <pc:sldMk cId="1531818186" sldId="269"/>
        </pc:sldMkLst>
        <pc:spChg chg="add mod">
          <ac:chgData name="Kyler Howard" userId="91ab63ab47daf7fe" providerId="LiveId" clId="{DC94617D-F3FC-4CB7-9EC5-CDA664DA8238}" dt="2025-04-08T17:15:43.174" v="96" actId="14100"/>
          <ac:spMkLst>
            <pc:docMk/>
            <pc:sldMk cId="1531818186" sldId="269"/>
            <ac:spMk id="3" creationId="{463792F1-1B78-1EB2-A94B-94647241AE73}"/>
          </ac:spMkLst>
        </pc:spChg>
        <pc:spChg chg="add mod">
          <ac:chgData name="Kyler Howard" userId="91ab63ab47daf7fe" providerId="LiveId" clId="{DC94617D-F3FC-4CB7-9EC5-CDA664DA8238}" dt="2025-04-08T17:15:54.559" v="101" actId="1076"/>
          <ac:spMkLst>
            <pc:docMk/>
            <pc:sldMk cId="1531818186" sldId="269"/>
            <ac:spMk id="5" creationId="{F7319E75-3B89-102D-A0CD-49F1C40A454D}"/>
          </ac:spMkLst>
        </pc:spChg>
        <pc:picChg chg="mod">
          <ac:chgData name="Kyler Howard" userId="91ab63ab47daf7fe" providerId="LiveId" clId="{DC94617D-F3FC-4CB7-9EC5-CDA664DA8238}" dt="2025-04-08T17:15:46.256" v="99" actId="1076"/>
          <ac:picMkLst>
            <pc:docMk/>
            <pc:sldMk cId="1531818186" sldId="269"/>
            <ac:picMk id="7" creationId="{1EC20572-B9D6-2631-88FC-966114930464}"/>
          </ac:picMkLst>
        </pc:picChg>
      </pc:sldChg>
      <pc:sldChg chg="delSp mod">
        <pc:chgData name="Kyler Howard" userId="91ab63ab47daf7fe" providerId="LiveId" clId="{DC94617D-F3FC-4CB7-9EC5-CDA664DA8238}" dt="2025-04-08T17:14:57.908" v="91" actId="478"/>
        <pc:sldMkLst>
          <pc:docMk/>
          <pc:sldMk cId="2622402953" sldId="273"/>
        </pc:sldMkLst>
        <pc:spChg chg="del">
          <ac:chgData name="Kyler Howard" userId="91ab63ab47daf7fe" providerId="LiveId" clId="{DC94617D-F3FC-4CB7-9EC5-CDA664DA8238}" dt="2025-04-08T17:14:57.908" v="91" actId="478"/>
          <ac:spMkLst>
            <pc:docMk/>
            <pc:sldMk cId="2622402953" sldId="273"/>
            <ac:spMk id="4" creationId="{5457CF44-B29E-0926-A663-4934B8243E72}"/>
          </ac:spMkLst>
        </pc:spChg>
      </pc:sldChg>
      <pc:sldChg chg="modSp mod">
        <pc:chgData name="Kyler Howard" userId="91ab63ab47daf7fe" providerId="LiveId" clId="{DC94617D-F3FC-4CB7-9EC5-CDA664DA8238}" dt="2025-04-08T17:19:06.297" v="148" actId="20577"/>
        <pc:sldMkLst>
          <pc:docMk/>
          <pc:sldMk cId="17060331" sldId="276"/>
        </pc:sldMkLst>
        <pc:spChg chg="mod">
          <ac:chgData name="Kyler Howard" userId="91ab63ab47daf7fe" providerId="LiveId" clId="{DC94617D-F3FC-4CB7-9EC5-CDA664DA8238}" dt="2025-04-08T17:19:06.297" v="148" actId="20577"/>
          <ac:spMkLst>
            <pc:docMk/>
            <pc:sldMk cId="17060331" sldId="276"/>
            <ac:spMk id="3" creationId="{761EB12E-3DEC-0665-4970-B79BB9482A1F}"/>
          </ac:spMkLst>
        </pc:spChg>
      </pc:sldChg>
      <pc:sldChg chg="modSp mod">
        <pc:chgData name="Kyler Howard" userId="91ab63ab47daf7fe" providerId="LiveId" clId="{DC94617D-F3FC-4CB7-9EC5-CDA664DA8238}" dt="2025-04-08T17:20:15.342" v="170" actId="20577"/>
        <pc:sldMkLst>
          <pc:docMk/>
          <pc:sldMk cId="2815010171" sldId="277"/>
        </pc:sldMkLst>
        <pc:spChg chg="mod">
          <ac:chgData name="Kyler Howard" userId="91ab63ab47daf7fe" providerId="LiveId" clId="{DC94617D-F3FC-4CB7-9EC5-CDA664DA8238}" dt="2025-04-08T17:20:15.342" v="170" actId="20577"/>
          <ac:spMkLst>
            <pc:docMk/>
            <pc:sldMk cId="2815010171" sldId="277"/>
            <ac:spMk id="3" creationId="{A179474E-71F5-FF5D-AE38-05EEDB5E3A6A}"/>
          </ac:spMkLst>
        </pc:spChg>
      </pc:sldChg>
      <pc:sldChg chg="del">
        <pc:chgData name="Kyler Howard" userId="91ab63ab47daf7fe" providerId="LiveId" clId="{DC94617D-F3FC-4CB7-9EC5-CDA664DA8238}" dt="2025-04-08T17:12:29.720" v="30" actId="47"/>
        <pc:sldMkLst>
          <pc:docMk/>
          <pc:sldMk cId="3158583892"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DBF343-A078-48AF-9C0C-2C3810088ABD}" type="datetimeFigureOut">
              <a:rPr lang="en-US" smtClean="0"/>
              <a:t>4/8/2025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C6EE77-D45A-4AD8-B3D4-7F6EDB2E219E}" type="slidenum">
              <a:rPr lang="en-US" smtClean="0"/>
              <a:t>‹#›</a:t>
            </a:fld>
            <a:endParaRPr lang="en-US"/>
          </a:p>
        </p:txBody>
      </p:sp>
    </p:spTree>
    <p:extLst>
      <p:ext uri="{BB962C8B-B14F-4D97-AF65-F5344CB8AC3E}">
        <p14:creationId xmlns:p14="http://schemas.microsoft.com/office/powerpoint/2010/main" val="66776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Kyler Howard and today I am reviewing and presenting a paper by Yang et al about removing clinical motion artifacts during electrical impedance tomography.</a:t>
            </a:r>
          </a:p>
        </p:txBody>
      </p:sp>
      <p:sp>
        <p:nvSpPr>
          <p:cNvPr id="4" name="Slide Number Placeholder 3"/>
          <p:cNvSpPr>
            <a:spLocks noGrp="1"/>
          </p:cNvSpPr>
          <p:nvPr>
            <p:ph type="sldNum" sz="quarter" idx="5"/>
          </p:nvPr>
        </p:nvSpPr>
        <p:spPr/>
        <p:txBody>
          <a:bodyPr/>
          <a:lstStyle/>
          <a:p>
            <a:fld id="{DFC6EE77-D45A-4AD8-B3D4-7F6EDB2E219E}" type="slidenum">
              <a:rPr lang="en-US" smtClean="0"/>
              <a:t>1</a:t>
            </a:fld>
            <a:endParaRPr lang="en-US"/>
          </a:p>
        </p:txBody>
      </p:sp>
    </p:spTree>
    <p:extLst>
      <p:ext uri="{BB962C8B-B14F-4D97-AF65-F5344CB8AC3E}">
        <p14:creationId xmlns:p14="http://schemas.microsoft.com/office/powerpoint/2010/main" val="476008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HelveticaNeueLTStd-Lt"/>
              </a:rPr>
              <a:t>Another important background information for this paper is about clinical artifacts. Clinical artifacts in EIT have to do where movement of the patients changes the impedance value. Lozano et. al in 1995 showed how even abducting the arm from a neutral position can change the contact impedance at electrodes around the torso. The artifacts looked at in this paper are shown in the figure to the right. The first, drifting, is commonly present from repetitive signals such as an air suspension mattress. Step artifacts are caused by movements of a patient into a new position and then them staying there, while spikes occur often when a clinician is in contact with the patient for a short amount of time.</a:t>
            </a:r>
            <a:endParaRPr lang="en-US" dirty="0"/>
          </a:p>
        </p:txBody>
      </p:sp>
      <p:sp>
        <p:nvSpPr>
          <p:cNvPr id="4" name="Slide Number Placeholder 3"/>
          <p:cNvSpPr>
            <a:spLocks noGrp="1"/>
          </p:cNvSpPr>
          <p:nvPr>
            <p:ph type="sldNum" sz="quarter" idx="5"/>
          </p:nvPr>
        </p:nvSpPr>
        <p:spPr/>
        <p:txBody>
          <a:bodyPr/>
          <a:lstStyle/>
          <a:p>
            <a:fld id="{DFC6EE77-D45A-4AD8-B3D4-7F6EDB2E219E}" type="slidenum">
              <a:rPr lang="en-US" smtClean="0"/>
              <a:t>2</a:t>
            </a:fld>
            <a:endParaRPr lang="en-US"/>
          </a:p>
        </p:txBody>
      </p:sp>
    </p:spTree>
    <p:extLst>
      <p:ext uri="{BB962C8B-B14F-4D97-AF65-F5344CB8AC3E}">
        <p14:creationId xmlns:p14="http://schemas.microsoft.com/office/powerpoint/2010/main" val="1627105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292929"/>
                </a:solidFill>
                <a:effectLst/>
                <a:latin typeface="source-serif-pro"/>
              </a:rPr>
              <a:t>The objective of this study has to do with something called the discrete wavelet transform. As mentioned, EIT is useful in many cases, but there are no current methods to reduce or eliminate the artifacts produced. The researches wanted to test using the discrete wavelet transform to automatically detect and remove these artifacts. </a:t>
            </a:r>
          </a:p>
          <a:p>
            <a:pPr algn="l">
              <a:buFont typeface="Arial" panose="020B0604020202020204" pitchFamily="34" charset="0"/>
              <a:buNone/>
            </a:pPr>
            <a:endParaRPr lang="en-US" b="0" i="0" dirty="0">
              <a:solidFill>
                <a:srgbClr val="292929"/>
              </a:solidFill>
              <a:effectLst/>
              <a:latin typeface="source-serif-pro"/>
            </a:endParaRPr>
          </a:p>
          <a:p>
            <a:pPr algn="l">
              <a:buFont typeface="Arial" panose="020B0604020202020204" pitchFamily="34" charset="0"/>
              <a:buNone/>
            </a:pPr>
            <a:r>
              <a:rPr lang="en-US" b="0" i="0" dirty="0">
                <a:solidFill>
                  <a:srgbClr val="292929"/>
                </a:solidFill>
                <a:effectLst/>
                <a:latin typeface="source-serif-pro"/>
              </a:rPr>
              <a:t>The wavelet transform can be thought of in a similar way to the Fourier transform. Instead of a basis of continuous sign waves though, an individual wavelet shown in blue/red/green in the figure is slid across your signal. Each wavelet chosen has a unique scale, and then the wavelets and signals are convoluted together to determine how much of that wavelet occurs in that specific location. This is repeated to form a basis of wavelets that make up your signal. The wavelet transform is unique in that it can detect local spectral and temporal information simultaneously and there are many wavelets to choose from.</a:t>
            </a:r>
            <a:endParaRPr lang="en-US" dirty="0"/>
          </a:p>
        </p:txBody>
      </p:sp>
      <p:sp>
        <p:nvSpPr>
          <p:cNvPr id="4" name="Slide Number Placeholder 3"/>
          <p:cNvSpPr>
            <a:spLocks noGrp="1"/>
          </p:cNvSpPr>
          <p:nvPr>
            <p:ph type="sldNum" sz="quarter" idx="5"/>
          </p:nvPr>
        </p:nvSpPr>
        <p:spPr/>
        <p:txBody>
          <a:bodyPr/>
          <a:lstStyle/>
          <a:p>
            <a:fld id="{DFC6EE77-D45A-4AD8-B3D4-7F6EDB2E219E}" type="slidenum">
              <a:rPr lang="en-US" smtClean="0"/>
              <a:t>3</a:t>
            </a:fld>
            <a:endParaRPr lang="en-US"/>
          </a:p>
        </p:txBody>
      </p:sp>
    </p:spTree>
    <p:extLst>
      <p:ext uri="{BB962C8B-B14F-4D97-AF65-F5344CB8AC3E}">
        <p14:creationId xmlns:p14="http://schemas.microsoft.com/office/powerpoint/2010/main" val="970628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specific wavelet scheme that Yang et al created. They would decompose their signals into slow-varying (a) signals and fast-varying (d) signals. They were able to identify which of these base signals corresponded with each artifact, and then could eliminate these signals in the reconstruction. This is very similar to how you would remove a constant frequency noise from any signal, but the discrete wavelet transform can isolate noises that only occur locally instead of globally. </a:t>
            </a:r>
          </a:p>
        </p:txBody>
      </p:sp>
      <p:sp>
        <p:nvSpPr>
          <p:cNvPr id="4" name="Slide Number Placeholder 3"/>
          <p:cNvSpPr>
            <a:spLocks noGrp="1"/>
          </p:cNvSpPr>
          <p:nvPr>
            <p:ph type="sldNum" sz="quarter" idx="5"/>
          </p:nvPr>
        </p:nvSpPr>
        <p:spPr/>
        <p:txBody>
          <a:bodyPr/>
          <a:lstStyle/>
          <a:p>
            <a:fld id="{DFC6EE77-D45A-4AD8-B3D4-7F6EDB2E219E}" type="slidenum">
              <a:rPr lang="en-US" smtClean="0"/>
              <a:t>4</a:t>
            </a:fld>
            <a:endParaRPr lang="en-US"/>
          </a:p>
        </p:txBody>
      </p:sp>
    </p:spTree>
    <p:extLst>
      <p:ext uri="{BB962C8B-B14F-4D97-AF65-F5344CB8AC3E}">
        <p14:creationId xmlns:p14="http://schemas.microsoft.com/office/powerpoint/2010/main" val="3901966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the researchers created a simulated noisy signal with both respiratory and cardiac contributions in MATLAB. Then they applied this signal to their three artifacts then creating three test cases.</a:t>
            </a:r>
          </a:p>
        </p:txBody>
      </p:sp>
      <p:sp>
        <p:nvSpPr>
          <p:cNvPr id="4" name="Slide Number Placeholder 3"/>
          <p:cNvSpPr>
            <a:spLocks noGrp="1"/>
          </p:cNvSpPr>
          <p:nvPr>
            <p:ph type="sldNum" sz="quarter" idx="5"/>
          </p:nvPr>
        </p:nvSpPr>
        <p:spPr/>
        <p:txBody>
          <a:bodyPr/>
          <a:lstStyle/>
          <a:p>
            <a:fld id="{DFC6EE77-D45A-4AD8-B3D4-7F6EDB2E219E}" type="slidenum">
              <a:rPr lang="en-US" smtClean="0"/>
              <a:t>5</a:t>
            </a:fld>
            <a:endParaRPr lang="en-US"/>
          </a:p>
        </p:txBody>
      </p:sp>
    </p:spTree>
    <p:extLst>
      <p:ext uri="{BB962C8B-B14F-4D97-AF65-F5344CB8AC3E}">
        <p14:creationId xmlns:p14="http://schemas.microsoft.com/office/powerpoint/2010/main" val="790312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simulated data, Yang et al also collected real patient data in China. They used the Drager </a:t>
            </a:r>
            <a:r>
              <a:rPr lang="en-US" dirty="0" err="1"/>
              <a:t>PulmoVista</a:t>
            </a:r>
            <a:r>
              <a:rPr lang="en-US" dirty="0"/>
              <a:t> 500, which is the current top commercially available EIT system. It uses a single belt of 16 electrodes and applies current to two electrodes at a time while measuring voltage on all the electrodes. They took data on only two patients, which will be discussed later.</a:t>
            </a:r>
          </a:p>
        </p:txBody>
      </p:sp>
      <p:sp>
        <p:nvSpPr>
          <p:cNvPr id="4" name="Slide Number Placeholder 3"/>
          <p:cNvSpPr>
            <a:spLocks noGrp="1"/>
          </p:cNvSpPr>
          <p:nvPr>
            <p:ph type="sldNum" sz="quarter" idx="5"/>
          </p:nvPr>
        </p:nvSpPr>
        <p:spPr/>
        <p:txBody>
          <a:bodyPr/>
          <a:lstStyle/>
          <a:p>
            <a:fld id="{DFC6EE77-D45A-4AD8-B3D4-7F6EDB2E219E}" type="slidenum">
              <a:rPr lang="en-US" smtClean="0"/>
              <a:t>6</a:t>
            </a:fld>
            <a:endParaRPr lang="en-US"/>
          </a:p>
        </p:txBody>
      </p:sp>
    </p:spTree>
    <p:extLst>
      <p:ext uri="{BB962C8B-B14F-4D97-AF65-F5344CB8AC3E}">
        <p14:creationId xmlns:p14="http://schemas.microsoft.com/office/powerpoint/2010/main" val="4116114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000000"/>
                </a:solidFill>
                <a:latin typeface="MinionPro-Regular" panose="02040503050306020203" pitchFamily="18" charset="0"/>
              </a:rPr>
              <a:t>The first results were on the simulated signals. For all three, you can clearly see that the red processed lines removed the artifacts from the darker signals while maintaining the original shape of the curves. This is numerically shown in both the percent root difference and the r squared value below. For all three processed signals, the percent root differences are very close to 0 and the r squared values are all near to 1, which is a great sign. The percent root differences improved by around 95% for the drift and step, and around 60% for the spike. </a:t>
            </a:r>
          </a:p>
          <a:p>
            <a:pPr algn="l"/>
            <a:endParaRPr lang="en-US" sz="1800" b="0" i="0" u="none" strike="noStrike" baseline="0" dirty="0">
              <a:solidFill>
                <a:srgbClr val="000000"/>
              </a:solidFill>
              <a:latin typeface="MinionPro-Regular" panose="02040503050306020203" pitchFamily="18" charset="0"/>
            </a:endParaRPr>
          </a:p>
          <a:p>
            <a:pPr algn="l"/>
            <a:r>
              <a:rPr lang="en-US" sz="1800" b="0" i="0" u="none" strike="noStrike" baseline="0" dirty="0">
                <a:solidFill>
                  <a:srgbClr val="000000"/>
                </a:solidFill>
                <a:latin typeface="MinionPro-Regular" panose="02040503050306020203" pitchFamily="18" charset="0"/>
              </a:rPr>
              <a:t>PRD: consistency</a:t>
            </a:r>
          </a:p>
          <a:p>
            <a:pPr algn="l"/>
            <a:r>
              <a:rPr lang="en-US" sz="1800" b="0" i="0" u="none" strike="noStrike" baseline="0" dirty="0">
                <a:solidFill>
                  <a:srgbClr val="000000"/>
                </a:solidFill>
                <a:latin typeface="MinionPro-Regular" panose="02040503050306020203" pitchFamily="18" charset="0"/>
              </a:rPr>
              <a:t>R2: similarity</a:t>
            </a:r>
          </a:p>
        </p:txBody>
      </p:sp>
      <p:sp>
        <p:nvSpPr>
          <p:cNvPr id="4" name="Slide Number Placeholder 3"/>
          <p:cNvSpPr>
            <a:spLocks noGrp="1"/>
          </p:cNvSpPr>
          <p:nvPr>
            <p:ph type="sldNum" sz="quarter" idx="5"/>
          </p:nvPr>
        </p:nvSpPr>
        <p:spPr/>
        <p:txBody>
          <a:bodyPr/>
          <a:lstStyle/>
          <a:p>
            <a:fld id="{DFC6EE77-D45A-4AD8-B3D4-7F6EDB2E219E}" type="slidenum">
              <a:rPr lang="en-US" smtClean="0"/>
              <a:t>7</a:t>
            </a:fld>
            <a:endParaRPr lang="en-US"/>
          </a:p>
        </p:txBody>
      </p:sp>
    </p:spTree>
    <p:extLst>
      <p:ext uri="{BB962C8B-B14F-4D97-AF65-F5344CB8AC3E}">
        <p14:creationId xmlns:p14="http://schemas.microsoft.com/office/powerpoint/2010/main" val="2506208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of the drift artifact was done on patient 1 who had moderate acute respiratory distress syndrome and was mechanically ventilated. You can clearly see the processed signal looks much nicer, but it also cleaned up the images produced. With this improved signal, now it is clear that the patient is only receiving ventilation on the ventral side where earlier one might have assumed that there was slight ventilation on the dorsal side as well.</a:t>
            </a:r>
          </a:p>
        </p:txBody>
      </p:sp>
      <p:sp>
        <p:nvSpPr>
          <p:cNvPr id="4" name="Slide Number Placeholder 3"/>
          <p:cNvSpPr>
            <a:spLocks noGrp="1"/>
          </p:cNvSpPr>
          <p:nvPr>
            <p:ph type="sldNum" sz="quarter" idx="5"/>
          </p:nvPr>
        </p:nvSpPr>
        <p:spPr/>
        <p:txBody>
          <a:bodyPr/>
          <a:lstStyle/>
          <a:p>
            <a:fld id="{DFC6EE77-D45A-4AD8-B3D4-7F6EDB2E219E}" type="slidenum">
              <a:rPr lang="en-US" smtClean="0"/>
              <a:t>8</a:t>
            </a:fld>
            <a:endParaRPr lang="en-US"/>
          </a:p>
        </p:txBody>
      </p:sp>
    </p:spTree>
    <p:extLst>
      <p:ext uri="{BB962C8B-B14F-4D97-AF65-F5344CB8AC3E}">
        <p14:creationId xmlns:p14="http://schemas.microsoft.com/office/powerpoint/2010/main" val="403243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next was the step artifact, again on patient 1 with ARDS. Here you can really tell that the processed signal kept the same shape for each sawtooth during the stepped-up region, but they did not report what their processed signal looked like during the gray step bar. I would’ve personally loved to see the red signal having continued throughout that. Either way, the resulting images after processing do look much more like what one would expect for this case.</a:t>
            </a:r>
          </a:p>
        </p:txBody>
      </p:sp>
      <p:sp>
        <p:nvSpPr>
          <p:cNvPr id="4" name="Slide Number Placeholder 3"/>
          <p:cNvSpPr>
            <a:spLocks noGrp="1"/>
          </p:cNvSpPr>
          <p:nvPr>
            <p:ph type="sldNum" sz="quarter" idx="5"/>
          </p:nvPr>
        </p:nvSpPr>
        <p:spPr/>
        <p:txBody>
          <a:bodyPr/>
          <a:lstStyle/>
          <a:p>
            <a:fld id="{DFC6EE77-D45A-4AD8-B3D4-7F6EDB2E219E}" type="slidenum">
              <a:rPr lang="en-US" smtClean="0"/>
              <a:t>9</a:t>
            </a:fld>
            <a:endParaRPr lang="en-US"/>
          </a:p>
        </p:txBody>
      </p:sp>
    </p:spTree>
    <p:extLst>
      <p:ext uri="{BB962C8B-B14F-4D97-AF65-F5344CB8AC3E}">
        <p14:creationId xmlns:p14="http://schemas.microsoft.com/office/powerpoint/2010/main" val="1472157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spike artifact was observed in patient 2 who had moderate chronic obstructive pulmonary disease and was undergoing pulmonary rehabilitation. They had a much messier signal which I do not think was the best to show for how this algorithm worked, but the resulting images still came out as one would expect. A lot of EIT is not about having the most perfect images, but instead showing the general trends. With that in mind, I’d still say that this test was successful for the spike artifact.</a:t>
            </a:r>
          </a:p>
        </p:txBody>
      </p:sp>
      <p:sp>
        <p:nvSpPr>
          <p:cNvPr id="4" name="Slide Number Placeholder 3"/>
          <p:cNvSpPr>
            <a:spLocks noGrp="1"/>
          </p:cNvSpPr>
          <p:nvPr>
            <p:ph type="sldNum" sz="quarter" idx="5"/>
          </p:nvPr>
        </p:nvSpPr>
        <p:spPr/>
        <p:txBody>
          <a:bodyPr/>
          <a:lstStyle/>
          <a:p>
            <a:fld id="{DFC6EE77-D45A-4AD8-B3D4-7F6EDB2E219E}" type="slidenum">
              <a:rPr lang="en-US" smtClean="0"/>
              <a:t>10</a:t>
            </a:fld>
            <a:endParaRPr lang="en-US"/>
          </a:p>
        </p:txBody>
      </p:sp>
    </p:spTree>
    <p:extLst>
      <p:ext uri="{BB962C8B-B14F-4D97-AF65-F5344CB8AC3E}">
        <p14:creationId xmlns:p14="http://schemas.microsoft.com/office/powerpoint/2010/main" val="1652822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Pro-Regular" panose="02040503050306020203" pitchFamily="18" charset="0"/>
              </a:rPr>
              <a:t>To quantify the results of all three clinical tests, they looked at the pixel-based errors and correlations. The image errors all dropped by about 90 to 95 percent when using the wavelet transform, and the image correlations between EIT images without artifacts and the processed ones were all above 0.95 which is great. Overall, this is very promising for this method to remove artifacts.</a:t>
            </a:r>
            <a:endParaRPr lang="en-US" dirty="0"/>
          </a:p>
        </p:txBody>
      </p:sp>
      <p:sp>
        <p:nvSpPr>
          <p:cNvPr id="4" name="Slide Number Placeholder 3"/>
          <p:cNvSpPr>
            <a:spLocks noGrp="1"/>
          </p:cNvSpPr>
          <p:nvPr>
            <p:ph type="sldNum" sz="quarter" idx="5"/>
          </p:nvPr>
        </p:nvSpPr>
        <p:spPr/>
        <p:txBody>
          <a:bodyPr/>
          <a:lstStyle/>
          <a:p>
            <a:fld id="{DFC6EE77-D45A-4AD8-B3D4-7F6EDB2E219E}" type="slidenum">
              <a:rPr lang="en-US" smtClean="0"/>
              <a:t>11</a:t>
            </a:fld>
            <a:endParaRPr lang="en-US"/>
          </a:p>
        </p:txBody>
      </p:sp>
    </p:spTree>
    <p:extLst>
      <p:ext uri="{BB962C8B-B14F-4D97-AF65-F5344CB8AC3E}">
        <p14:creationId xmlns:p14="http://schemas.microsoft.com/office/powerpoint/2010/main" val="965797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author and I have some comments on the discrete wavelet transform used as well as some limitations in the next slide.</a:t>
            </a:r>
          </a:p>
          <a:p>
            <a:endParaRPr lang="en-US" dirty="0"/>
          </a:p>
          <a:p>
            <a:r>
              <a:rPr lang="en-US" dirty="0"/>
              <a:t>They pointed out that the localization property of wavelets is extremely helpful for eliminating these local sources of noise. Additionally, with this transform they can create one filter that eliminates all three artifacts simultaneously instead of having to make three different filters or use varying methods.</a:t>
            </a:r>
          </a:p>
          <a:p>
            <a:endParaRPr lang="en-US" dirty="0"/>
          </a:p>
          <a:p>
            <a:r>
              <a:rPr lang="en-US" dirty="0"/>
              <a:t>I am curious though if this filter would be the same for all subjects, or would they have to identify the specific wavelets required for an individual subject. That would take much more time and could potentially stop this from being a real-time clinical method. Additionally, they did not provide the exact scale parameters for the wavelets they used, so it would be hard to replicate this quickly and check.</a:t>
            </a:r>
          </a:p>
        </p:txBody>
      </p:sp>
      <p:sp>
        <p:nvSpPr>
          <p:cNvPr id="4" name="Slide Number Placeholder 3"/>
          <p:cNvSpPr>
            <a:spLocks noGrp="1"/>
          </p:cNvSpPr>
          <p:nvPr>
            <p:ph type="sldNum" sz="quarter" idx="5"/>
          </p:nvPr>
        </p:nvSpPr>
        <p:spPr/>
        <p:txBody>
          <a:bodyPr/>
          <a:lstStyle/>
          <a:p>
            <a:fld id="{DFC6EE77-D45A-4AD8-B3D4-7F6EDB2E219E}" type="slidenum">
              <a:rPr lang="en-US" smtClean="0"/>
              <a:t>12</a:t>
            </a:fld>
            <a:endParaRPr lang="en-US"/>
          </a:p>
        </p:txBody>
      </p:sp>
    </p:spTree>
    <p:extLst>
      <p:ext uri="{BB962C8B-B14F-4D97-AF65-F5344CB8AC3E}">
        <p14:creationId xmlns:p14="http://schemas.microsoft.com/office/powerpoint/2010/main" val="343761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limitations, the authors acknowledged that they did not even try to pursue real-time processing in this study, but mentioned it is their next priority which is encouraging. They also want to try applying the 3 in one filter on a subject/data that has multiple artifacts at the same time, instead of the single artifact processing they demonstrated here. Lastly, they mentioned how there are probably more sources of artifacts that could be detected with other wavelets, and they would like to expand their filter to include them eventually.</a:t>
            </a:r>
          </a:p>
          <a:p>
            <a:endParaRPr lang="en-US" dirty="0"/>
          </a:p>
          <a:p>
            <a:r>
              <a:rPr lang="en-US" dirty="0"/>
              <a:t>As mentioned in the previous slide, I am curious about the ease of application to multiple subjects, so I would have appreciated if they had a large dataset for this study to show how the same wavelet scheme can be applied to multiple people. I also would have liked more spike testing or at least a cleaner section of data with a spike in it to really see how the processed signal stayed the same instead of what we were shown.</a:t>
            </a:r>
          </a:p>
        </p:txBody>
      </p:sp>
      <p:sp>
        <p:nvSpPr>
          <p:cNvPr id="4" name="Slide Number Placeholder 3"/>
          <p:cNvSpPr>
            <a:spLocks noGrp="1"/>
          </p:cNvSpPr>
          <p:nvPr>
            <p:ph type="sldNum" sz="quarter" idx="5"/>
          </p:nvPr>
        </p:nvSpPr>
        <p:spPr/>
        <p:txBody>
          <a:bodyPr/>
          <a:lstStyle/>
          <a:p>
            <a:fld id="{DFC6EE77-D45A-4AD8-B3D4-7F6EDB2E219E}" type="slidenum">
              <a:rPr lang="en-US" smtClean="0"/>
              <a:t>13</a:t>
            </a:fld>
            <a:endParaRPr lang="en-US"/>
          </a:p>
        </p:txBody>
      </p:sp>
    </p:spTree>
    <p:extLst>
      <p:ext uri="{BB962C8B-B14F-4D97-AF65-F5344CB8AC3E}">
        <p14:creationId xmlns:p14="http://schemas.microsoft.com/office/powerpoint/2010/main" val="2856922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8F9B1E-17A6-4D6A-A6BA-42DC2C8E28B0}" type="datetime1">
              <a:rPr lang="en-US" smtClean="0"/>
              <a:t>4/8/2025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E0810650-425C-44EB-A859-BE2D39D70DB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633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3399D-370E-4AC0-A329-1507B347F6B9}" type="datetime1">
              <a:rPr lang="en-US" smtClean="0"/>
              <a:t>4/8/2025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344146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ED1A2F-8EE8-4399-A639-BAC38B70F154}" type="datetime1">
              <a:rPr lang="en-US" smtClean="0"/>
              <a:t>4/8/2025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E0810650-425C-44EB-A859-BE2D39D70DB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430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E11D3E-EE06-4E4E-80A9-993D2B3749EC}" type="datetime1">
              <a:rPr lang="en-US" smtClean="0"/>
              <a:t>4/8/2025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3245420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947695-C5AE-4E97-9E47-25595A30F29C}" type="datetime1">
              <a:rPr lang="en-US" smtClean="0"/>
              <a:t>4/8/2025</a:t>
            </a:fld>
            <a:endParaRPr lang="en-US"/>
          </a:p>
        </p:txBody>
      </p:sp>
      <p:sp>
        <p:nvSpPr>
          <p:cNvPr id="8" name="Footer Placeholder 7"/>
          <p:cNvSpPr>
            <a:spLocks noGrp="1"/>
          </p:cNvSpPr>
          <p:nvPr>
            <p:ph type="ftr" sz="quarter" idx="11"/>
          </p:nvPr>
        </p:nvSpPr>
        <p:spPr/>
        <p:txBody>
          <a:bodyPr/>
          <a:lstStyle/>
          <a:p>
            <a:r>
              <a:rPr lang="en-US"/>
              <a:t>[1]</a:t>
            </a:r>
          </a:p>
        </p:txBody>
      </p:sp>
      <p:sp>
        <p:nvSpPr>
          <p:cNvPr id="9" name="Slide Number Placeholder 8"/>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1993475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76A72C-E191-4779-ADCB-58C17F5DBB78}" type="datetime1">
              <a:rPr lang="en-US" smtClean="0"/>
              <a:t>4/8/2025</a:t>
            </a:fld>
            <a:endParaRPr lang="en-US"/>
          </a:p>
        </p:txBody>
      </p:sp>
      <p:sp>
        <p:nvSpPr>
          <p:cNvPr id="4" name="Footer Placeholder 3"/>
          <p:cNvSpPr>
            <a:spLocks noGrp="1"/>
          </p:cNvSpPr>
          <p:nvPr>
            <p:ph type="ftr" sz="quarter" idx="11"/>
          </p:nvPr>
        </p:nvSpPr>
        <p:spPr/>
        <p:txBody>
          <a:bodyPr/>
          <a:lstStyle/>
          <a:p>
            <a:r>
              <a:rPr lang="en-US"/>
              <a:t>[1]</a:t>
            </a:r>
          </a:p>
        </p:txBody>
      </p:sp>
      <p:sp>
        <p:nvSpPr>
          <p:cNvPr id="5" name="Slide Number Placeholder 4"/>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3484081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98BC2F9-1DA0-4DA3-93F4-609053BFAFED}" type="datetime1">
              <a:rPr lang="en-US" smtClean="0"/>
              <a:t>4/8/2025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[1]</a:t>
            </a:r>
          </a:p>
        </p:txBody>
      </p:sp>
      <p:sp>
        <p:nvSpPr>
          <p:cNvPr id="9" name="Slide Number Placeholder 8"/>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291731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15045FA-9A8B-41E7-B31B-DF15C280D579}" type="datetime1">
              <a:rPr lang="en-US" smtClean="0"/>
              <a:t>4/8/2025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[1]</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810650-425C-44EB-A859-BE2D39D70DBE}" type="slidenum">
              <a:rPr lang="en-US" smtClean="0"/>
              <a:t>‹#›</a:t>
            </a:fld>
            <a:endParaRPr lang="en-US"/>
          </a:p>
        </p:txBody>
      </p:sp>
    </p:spTree>
    <p:extLst>
      <p:ext uri="{BB962C8B-B14F-4D97-AF65-F5344CB8AC3E}">
        <p14:creationId xmlns:p14="http://schemas.microsoft.com/office/powerpoint/2010/main" val="58273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79CE51-B661-436A-9DD8-7FB716910279}" type="datetime1">
              <a:rPr lang="en-US" smtClean="0"/>
              <a:t>4/8/2025</a:t>
            </a:fld>
            <a:endParaRPr lang="en-US"/>
          </a:p>
        </p:txBody>
      </p:sp>
      <p:sp>
        <p:nvSpPr>
          <p:cNvPr id="6" name="Footer Placeholder 5"/>
          <p:cNvSpPr>
            <a:spLocks noGrp="1"/>
          </p:cNvSpPr>
          <p:nvPr>
            <p:ph type="ftr" sz="quarter" idx="11"/>
          </p:nvPr>
        </p:nvSpPr>
        <p:spPr/>
        <p:txBody>
          <a:bodyPr/>
          <a:lstStyle/>
          <a:p>
            <a:r>
              <a:rPr lang="en-US"/>
              <a:t>[1]</a:t>
            </a:r>
          </a:p>
        </p:txBody>
      </p:sp>
      <p:sp>
        <p:nvSpPr>
          <p:cNvPr id="7" name="Slide Number Placeholder 6"/>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276293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3F48A-19CE-446A-8F69-84D1A6BCA8AF}" type="datetime1">
              <a:rPr lang="en-US" smtClean="0"/>
              <a:t>4/8/2025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373838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60C1D3-9FFF-474F-9A85-D4795355F685}" type="datetime1">
              <a:rPr lang="en-US" smtClean="0"/>
              <a:t>4/8/2025</a:t>
            </a:fld>
            <a:endParaRPr lang="en-US"/>
          </a:p>
        </p:txBody>
      </p:sp>
      <p:sp>
        <p:nvSpPr>
          <p:cNvPr id="5" name="Footer Placeholder 4"/>
          <p:cNvSpPr>
            <a:spLocks noGrp="1"/>
          </p:cNvSpPr>
          <p:nvPr>
            <p:ph type="ftr" sz="quarter" idx="11"/>
          </p:nvPr>
        </p:nvSpPr>
        <p:spPr/>
        <p:txBody>
          <a:bodyPr/>
          <a:lstStyle/>
          <a:p>
            <a:r>
              <a:rPr lang="en-US"/>
              <a:t>[1]</a:t>
            </a:r>
          </a:p>
        </p:txBody>
      </p:sp>
      <p:sp>
        <p:nvSpPr>
          <p:cNvPr id="6" name="Slide Number Placeholder 5"/>
          <p:cNvSpPr>
            <a:spLocks noGrp="1"/>
          </p:cNvSpPr>
          <p:nvPr>
            <p:ph type="sldNum" sz="quarter" idx="12"/>
          </p:nvPr>
        </p:nvSpPr>
        <p:spPr/>
        <p:txBody>
          <a:bodyPr/>
          <a:lstStyle/>
          <a:p>
            <a:fld id="{E0810650-425C-44EB-A859-BE2D39D70DBE}" type="slidenum">
              <a:rPr lang="en-US" smtClean="0"/>
              <a:t>‹#›</a:t>
            </a:fld>
            <a:endParaRPr lang="en-US"/>
          </a:p>
        </p:txBody>
      </p:sp>
    </p:spTree>
    <p:extLst>
      <p:ext uri="{BB962C8B-B14F-4D97-AF65-F5344CB8AC3E}">
        <p14:creationId xmlns:p14="http://schemas.microsoft.com/office/powerpoint/2010/main" val="2381233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5B95028-A813-4751-8DF5-8E3F19473024}" type="datetime1">
              <a:rPr lang="en-US" smtClean="0"/>
              <a:t>4/8/2025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[1]</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0810650-425C-44EB-A859-BE2D39D70DB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63436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40642-3C30-E66B-61A0-8393FFC0A3D5}"/>
              </a:ext>
            </a:extLst>
          </p:cNvPr>
          <p:cNvSpPr>
            <a:spLocks noGrp="1"/>
          </p:cNvSpPr>
          <p:nvPr>
            <p:ph type="ctrTitle"/>
          </p:nvPr>
        </p:nvSpPr>
        <p:spPr/>
        <p:txBody>
          <a:bodyPr>
            <a:noAutofit/>
          </a:bodyPr>
          <a:lstStyle/>
          <a:p>
            <a:r>
              <a:rPr lang="en-US" sz="4000" dirty="0"/>
              <a:t>Removing Clinical Motion Artifacts During Ventilation Monitoring With Electrical Impedance Tomography:</a:t>
            </a:r>
            <a:br>
              <a:rPr lang="en-US" sz="4000" dirty="0"/>
            </a:br>
            <a:br>
              <a:rPr lang="en-US" sz="4000" dirty="0"/>
            </a:br>
            <a:r>
              <a:rPr lang="en-US" sz="4000" dirty="0"/>
              <a:t>Introduction of Methodology and Validation With Simulation and Patient Data</a:t>
            </a:r>
          </a:p>
        </p:txBody>
      </p:sp>
      <p:sp>
        <p:nvSpPr>
          <p:cNvPr id="3" name="Subtitle 2">
            <a:extLst>
              <a:ext uri="{FF2B5EF4-FFF2-40B4-BE49-F238E27FC236}">
                <a16:creationId xmlns:a16="http://schemas.microsoft.com/office/drawing/2014/main" id="{F1D36D8A-F767-49F3-250C-E5CE59CFEFAF}"/>
              </a:ext>
            </a:extLst>
          </p:cNvPr>
          <p:cNvSpPr>
            <a:spLocks noGrp="1"/>
          </p:cNvSpPr>
          <p:nvPr>
            <p:ph type="subTitle" idx="1"/>
          </p:nvPr>
        </p:nvSpPr>
        <p:spPr>
          <a:xfrm>
            <a:off x="1100051" y="4455620"/>
            <a:ext cx="10058400" cy="1423586"/>
          </a:xfrm>
        </p:spPr>
        <p:txBody>
          <a:bodyPr>
            <a:normAutofit/>
          </a:bodyPr>
          <a:lstStyle/>
          <a:p>
            <a:r>
              <a:rPr lang="en-US" dirty="0"/>
              <a:t>Frontieres in Medicine</a:t>
            </a:r>
          </a:p>
          <a:p>
            <a:r>
              <a:rPr lang="en-US" dirty="0"/>
              <a:t>Yang et. </a:t>
            </a:r>
            <a:r>
              <a:rPr lang="en-US"/>
              <a:t>al., 2022</a:t>
            </a:r>
            <a:endParaRPr lang="en-US" dirty="0"/>
          </a:p>
        </p:txBody>
      </p:sp>
    </p:spTree>
    <p:extLst>
      <p:ext uri="{BB962C8B-B14F-4D97-AF65-F5344CB8AC3E}">
        <p14:creationId xmlns:p14="http://schemas.microsoft.com/office/powerpoint/2010/main" val="467359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689B-FF28-5805-7F38-9B8472CCF7E7}"/>
              </a:ext>
            </a:extLst>
          </p:cNvPr>
          <p:cNvSpPr>
            <a:spLocks noGrp="1"/>
          </p:cNvSpPr>
          <p:nvPr>
            <p:ph type="title"/>
          </p:nvPr>
        </p:nvSpPr>
        <p:spPr/>
        <p:txBody>
          <a:bodyPr/>
          <a:lstStyle/>
          <a:p>
            <a:r>
              <a:rPr lang="en-US" dirty="0"/>
              <a:t>Clinical Artifacts in EIT</a:t>
            </a:r>
          </a:p>
        </p:txBody>
      </p:sp>
      <p:sp>
        <p:nvSpPr>
          <p:cNvPr id="3" name="Content Placeholder 2">
            <a:extLst>
              <a:ext uri="{FF2B5EF4-FFF2-40B4-BE49-F238E27FC236}">
                <a16:creationId xmlns:a16="http://schemas.microsoft.com/office/drawing/2014/main" id="{F6863048-A0B1-BC64-9E7F-B49DBAF066DB}"/>
              </a:ext>
            </a:extLst>
          </p:cNvPr>
          <p:cNvSpPr>
            <a:spLocks noGrp="1"/>
          </p:cNvSpPr>
          <p:nvPr>
            <p:ph idx="1"/>
          </p:nvPr>
        </p:nvSpPr>
        <p:spPr>
          <a:xfrm>
            <a:off x="1097280" y="1845734"/>
            <a:ext cx="10058400" cy="4023360"/>
          </a:xfrm>
        </p:spPr>
        <p:txBody>
          <a:bodyPr>
            <a:normAutofit/>
          </a:bodyPr>
          <a:lstStyle/>
          <a:p>
            <a:pPr lvl="1">
              <a:buClr>
                <a:schemeClr val="tx2"/>
              </a:buClr>
              <a:buFont typeface="Arial" panose="020B0604020202020204" pitchFamily="34" charset="0"/>
              <a:buChar char="•"/>
            </a:pPr>
            <a:r>
              <a:rPr lang="en-US" sz="2400"/>
              <a:t>Movement of patients changes the impedance value</a:t>
            </a:r>
            <a:br>
              <a:rPr lang="en-US" sz="2400"/>
            </a:br>
            <a:endParaRPr lang="en-US" sz="2400" dirty="0"/>
          </a:p>
        </p:txBody>
      </p:sp>
      <p:sp>
        <p:nvSpPr>
          <p:cNvPr id="8" name="Slide Number Placeholder 9">
            <a:extLst>
              <a:ext uri="{FF2B5EF4-FFF2-40B4-BE49-F238E27FC236}">
                <a16:creationId xmlns:a16="http://schemas.microsoft.com/office/drawing/2014/main" id="{100208D4-ABE6-F1C5-3408-EF91DFC268D0}"/>
              </a:ext>
            </a:extLst>
          </p:cNvPr>
          <p:cNvSpPr>
            <a:spLocks noGrp="1"/>
          </p:cNvSpPr>
          <p:nvPr>
            <p:ph type="sldNum" sz="quarter" idx="12"/>
          </p:nvPr>
        </p:nvSpPr>
        <p:spPr>
          <a:xfrm>
            <a:off x="1" y="6386287"/>
            <a:ext cx="6647542" cy="471714"/>
          </a:xfrm>
        </p:spPr>
        <p:txBody>
          <a:bodyPr/>
          <a:lstStyle/>
          <a:p>
            <a:pPr marL="0" marR="0" algn="l">
              <a:spcBef>
                <a:spcPts val="0"/>
              </a:spcBef>
              <a:spcAft>
                <a:spcPts val="0"/>
              </a:spcAft>
            </a:pPr>
            <a:r>
              <a:rPr lang="en-US" dirty="0"/>
              <a:t>A. Lozano, X. </a:t>
            </a:r>
            <a:r>
              <a:rPr lang="en-US" dirty="0" err="1"/>
              <a:t>Rosell</a:t>
            </a:r>
            <a:r>
              <a:rPr lang="en-US" dirty="0"/>
              <a:t>, and R. Pallas-</a:t>
            </a:r>
            <a:r>
              <a:rPr lang="en-US" dirty="0" err="1"/>
              <a:t>Areny</a:t>
            </a:r>
            <a:r>
              <a:rPr lang="en-US" dirty="0"/>
              <a:t>, “Errors in prolonged electrical impedance measurements due to electrode repositioning and postural changes,” Physiol. Meas., vol. 16, pp. 121–30, Jun. 1995, </a:t>
            </a:r>
            <a:r>
              <a:rPr lang="en-US" dirty="0" err="1"/>
              <a:t>doi</a:t>
            </a:r>
            <a:r>
              <a:rPr lang="en-US" dirty="0"/>
              <a:t>: 10.1088/0967-3334/16/2/004.</a:t>
            </a:r>
          </a:p>
        </p:txBody>
      </p:sp>
      <p:pic>
        <p:nvPicPr>
          <p:cNvPr id="1026" name="Picture 2">
            <a:extLst>
              <a:ext uri="{FF2B5EF4-FFF2-40B4-BE49-F238E27FC236}">
                <a16:creationId xmlns:a16="http://schemas.microsoft.com/office/drawing/2014/main" id="{5901B3EC-2B6B-4716-160E-302EB6EE26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62" t="11640" r="14892" b="49700"/>
          <a:stretch/>
        </p:blipFill>
        <p:spPr bwMode="auto">
          <a:xfrm>
            <a:off x="1097280" y="2736186"/>
            <a:ext cx="3635829" cy="265127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F0AA068-EC97-5F27-A0EC-95D2A84C69A9}"/>
              </a:ext>
            </a:extLst>
          </p:cNvPr>
          <p:cNvPicPr>
            <a:picLocks noChangeAspect="1"/>
          </p:cNvPicPr>
          <p:nvPr/>
        </p:nvPicPr>
        <p:blipFill>
          <a:blip r:embed="rId4"/>
          <a:stretch>
            <a:fillRect/>
          </a:stretch>
        </p:blipFill>
        <p:spPr>
          <a:xfrm>
            <a:off x="5139509" y="2435176"/>
            <a:ext cx="6016171" cy="3253296"/>
          </a:xfrm>
          <a:prstGeom prst="rect">
            <a:avLst/>
          </a:prstGeom>
        </p:spPr>
      </p:pic>
      <p:sp>
        <p:nvSpPr>
          <p:cNvPr id="11" name="TextBox 10">
            <a:extLst>
              <a:ext uri="{FF2B5EF4-FFF2-40B4-BE49-F238E27FC236}">
                <a16:creationId xmlns:a16="http://schemas.microsoft.com/office/drawing/2014/main" id="{8398E0DA-5139-1985-6B1C-3D29847384CE}"/>
              </a:ext>
            </a:extLst>
          </p:cNvPr>
          <p:cNvSpPr txBox="1"/>
          <p:nvPr/>
        </p:nvSpPr>
        <p:spPr>
          <a:xfrm>
            <a:off x="2185851" y="5750895"/>
            <a:ext cx="1458686" cy="369332"/>
          </a:xfrm>
          <a:prstGeom prst="rect">
            <a:avLst/>
          </a:prstGeom>
          <a:noFill/>
        </p:spPr>
        <p:txBody>
          <a:bodyPr wrap="square" rtlCol="0">
            <a:spAutoFit/>
          </a:bodyPr>
          <a:lstStyle/>
          <a:p>
            <a:r>
              <a:rPr lang="en-US"/>
              <a:t>Lozano et. al</a:t>
            </a:r>
            <a:endParaRPr lang="en-US" dirty="0"/>
          </a:p>
        </p:txBody>
      </p:sp>
      <p:sp>
        <p:nvSpPr>
          <p:cNvPr id="12" name="TextBox 11">
            <a:extLst>
              <a:ext uri="{FF2B5EF4-FFF2-40B4-BE49-F238E27FC236}">
                <a16:creationId xmlns:a16="http://schemas.microsoft.com/office/drawing/2014/main" id="{2B5545AF-95C8-67B7-98CE-315DB176AD79}"/>
              </a:ext>
            </a:extLst>
          </p:cNvPr>
          <p:cNvSpPr txBox="1"/>
          <p:nvPr/>
        </p:nvSpPr>
        <p:spPr>
          <a:xfrm>
            <a:off x="7556137" y="5750895"/>
            <a:ext cx="1182914" cy="369332"/>
          </a:xfrm>
          <a:prstGeom prst="rect">
            <a:avLst/>
          </a:prstGeom>
          <a:noFill/>
        </p:spPr>
        <p:txBody>
          <a:bodyPr wrap="square" rtlCol="0">
            <a:spAutoFit/>
          </a:bodyPr>
          <a:lstStyle/>
          <a:p>
            <a:r>
              <a:rPr lang="en-US"/>
              <a:t>Yang et. al</a:t>
            </a:r>
            <a:endParaRPr lang="en-US" dirty="0"/>
          </a:p>
        </p:txBody>
      </p:sp>
    </p:spTree>
    <p:extLst>
      <p:ext uri="{BB962C8B-B14F-4D97-AF65-F5344CB8AC3E}">
        <p14:creationId xmlns:p14="http://schemas.microsoft.com/office/powerpoint/2010/main" val="2911281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A33BBBE-E75B-282E-8BFC-35E30B3329CD}"/>
              </a:ext>
            </a:extLst>
          </p:cNvPr>
          <p:cNvSpPr>
            <a:spLocks noGrp="1"/>
          </p:cNvSpPr>
          <p:nvPr>
            <p:ph type="title"/>
          </p:nvPr>
        </p:nvSpPr>
        <p:spPr>
          <a:xfrm>
            <a:off x="492369" y="674914"/>
            <a:ext cx="3603431" cy="1945796"/>
          </a:xfrm>
        </p:spPr>
        <p:txBody>
          <a:bodyPr>
            <a:noAutofit/>
          </a:bodyPr>
          <a:lstStyle/>
          <a:p>
            <a:r>
              <a:rPr lang="en-US" dirty="0">
                <a:solidFill>
                  <a:srgbClr val="FFFFFF"/>
                </a:solidFill>
              </a:rPr>
              <a:t>Objective – DWT</a:t>
            </a:r>
          </a:p>
        </p:txBody>
      </p:sp>
      <p:sp>
        <p:nvSpPr>
          <p:cNvPr id="3" name="Content Placeholder 2">
            <a:extLst>
              <a:ext uri="{FF2B5EF4-FFF2-40B4-BE49-F238E27FC236}">
                <a16:creationId xmlns:a16="http://schemas.microsoft.com/office/drawing/2014/main" id="{26255A2F-A76B-ABAD-40A7-1476D4C8DAA5}"/>
              </a:ext>
            </a:extLst>
          </p:cNvPr>
          <p:cNvSpPr>
            <a:spLocks noGrp="1"/>
          </p:cNvSpPr>
          <p:nvPr>
            <p:ph idx="1"/>
          </p:nvPr>
        </p:nvSpPr>
        <p:spPr>
          <a:xfrm>
            <a:off x="477622" y="2929571"/>
            <a:ext cx="3084844" cy="3335519"/>
          </a:xfrm>
        </p:spPr>
        <p:txBody>
          <a:bodyPr>
            <a:noAutofit/>
          </a:bodyPr>
          <a:lstStyle/>
          <a:p>
            <a:pPr marL="182880">
              <a:buClr>
                <a:schemeClr val="tx2"/>
              </a:buClr>
              <a:buFont typeface="Arial" panose="020B0604020202020204" pitchFamily="34" charset="0"/>
              <a:buChar char="•"/>
            </a:pPr>
            <a:r>
              <a:rPr lang="en-US" dirty="0">
                <a:solidFill>
                  <a:srgbClr val="FFFFFF"/>
                </a:solidFill>
              </a:rPr>
              <a:t>Testing the discrete wavelet transform (DWT) to reduce/eliminate artifacts</a:t>
            </a:r>
          </a:p>
          <a:p>
            <a:pPr marL="182880">
              <a:buClr>
                <a:schemeClr val="tx2"/>
              </a:buClr>
              <a:buFont typeface="Arial" panose="020B0604020202020204" pitchFamily="34" charset="0"/>
              <a:buChar char="•"/>
            </a:pPr>
            <a:r>
              <a:rPr lang="en-US" dirty="0">
                <a:solidFill>
                  <a:srgbClr val="FFFFFF"/>
                </a:solidFill>
              </a:rPr>
              <a:t>Detects and removes artifacts for thoracic EIT</a:t>
            </a:r>
          </a:p>
        </p:txBody>
      </p:sp>
      <p:sp>
        <p:nvSpPr>
          <p:cNvPr id="3083" name="Rectangle 308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74" name="Picture 2">
            <a:extLst>
              <a:ext uri="{FF2B5EF4-FFF2-40B4-BE49-F238E27FC236}">
                <a16:creationId xmlns:a16="http://schemas.microsoft.com/office/drawing/2014/main" id="{DC0C007C-E4ED-7B7F-A024-997BC1AC46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42017" y="879719"/>
            <a:ext cx="6798082" cy="5098561"/>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9">
            <a:extLst>
              <a:ext uri="{FF2B5EF4-FFF2-40B4-BE49-F238E27FC236}">
                <a16:creationId xmlns:a16="http://schemas.microsoft.com/office/drawing/2014/main" id="{E6D11FE0-42F0-F453-9778-9C09CCC34D71}"/>
              </a:ext>
            </a:extLst>
          </p:cNvPr>
          <p:cNvSpPr>
            <a:spLocks noGrp="1"/>
          </p:cNvSpPr>
          <p:nvPr>
            <p:ph type="sldNum" sz="quarter" idx="12"/>
          </p:nvPr>
        </p:nvSpPr>
        <p:spPr>
          <a:xfrm>
            <a:off x="0" y="6371772"/>
            <a:ext cx="4104079" cy="471714"/>
          </a:xfrm>
        </p:spPr>
        <p:txBody>
          <a:bodyPr/>
          <a:lstStyle/>
          <a:p>
            <a:pPr algn="l"/>
            <a:r>
              <a:rPr lang="en-US" dirty="0"/>
              <a:t>S. </a:t>
            </a:r>
            <a:r>
              <a:rPr lang="en-US" dirty="0" err="1"/>
              <a:t>Talebi</a:t>
            </a:r>
            <a:r>
              <a:rPr lang="en-US" dirty="0"/>
              <a:t>, “The Wavelet Transform,” Medium, Apr. 01, 2023. https://towardsdatascience.com/the-wavelet-transform-e9cfa85d7b34 (accessed Apr. 28, 2023).</a:t>
            </a:r>
          </a:p>
        </p:txBody>
      </p:sp>
    </p:spTree>
    <p:extLst>
      <p:ext uri="{BB962C8B-B14F-4D97-AF65-F5344CB8AC3E}">
        <p14:creationId xmlns:p14="http://schemas.microsoft.com/office/powerpoint/2010/main" val="1378838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3" name="Straight Connector 2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8D0DE514-8876-4D18-A995-61A5C1F81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4904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9DA791C-FFCF-422E-8775-BDA6C0E5E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BF4114C-A4B3-5D15-CB59-B24DC17AB802}"/>
              </a:ext>
            </a:extLst>
          </p:cNvPr>
          <p:cNvSpPr>
            <a:spLocks noGrp="1"/>
          </p:cNvSpPr>
          <p:nvPr>
            <p:ph type="title"/>
          </p:nvPr>
        </p:nvSpPr>
        <p:spPr>
          <a:xfrm>
            <a:off x="1065197" y="5120640"/>
            <a:ext cx="10058400" cy="822960"/>
          </a:xfrm>
        </p:spPr>
        <p:txBody>
          <a:bodyPr vert="horz" lIns="91440" tIns="45720" rIns="91440" bIns="45720" rtlCol="0" anchor="b">
            <a:normAutofit/>
          </a:bodyPr>
          <a:lstStyle/>
          <a:p>
            <a:r>
              <a:rPr lang="en-US" sz="3600">
                <a:solidFill>
                  <a:srgbClr val="FFFFFF"/>
                </a:solidFill>
              </a:rPr>
              <a:t>DWT Scheme</a:t>
            </a:r>
          </a:p>
        </p:txBody>
      </p:sp>
      <p:pic>
        <p:nvPicPr>
          <p:cNvPr id="5" name="Content Placeholder 4">
            <a:extLst>
              <a:ext uri="{FF2B5EF4-FFF2-40B4-BE49-F238E27FC236}">
                <a16:creationId xmlns:a16="http://schemas.microsoft.com/office/drawing/2014/main" id="{BCD561DD-4E28-D23E-5AFF-35BF621CBD3E}"/>
              </a:ext>
            </a:extLst>
          </p:cNvPr>
          <p:cNvPicPr>
            <a:picLocks noGrp="1" noChangeAspect="1"/>
          </p:cNvPicPr>
          <p:nvPr>
            <p:ph idx="1"/>
          </p:nvPr>
        </p:nvPicPr>
        <p:blipFill>
          <a:blip r:embed="rId3"/>
          <a:stretch>
            <a:fillRect/>
          </a:stretch>
        </p:blipFill>
        <p:spPr>
          <a:xfrm>
            <a:off x="1669682" y="407537"/>
            <a:ext cx="8849429" cy="4085787"/>
          </a:xfrm>
          <a:prstGeom prst="rect">
            <a:avLst/>
          </a:prstGeom>
        </p:spPr>
      </p:pic>
      <p:sp>
        <p:nvSpPr>
          <p:cNvPr id="29" name="Rectangle 28">
            <a:extLst>
              <a:ext uri="{FF2B5EF4-FFF2-40B4-BE49-F238E27FC236}">
                <a16:creationId xmlns:a16="http://schemas.microsoft.com/office/drawing/2014/main" id="{0DCF8855-3530-4F46-A4CB-3B6686EEE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78906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Simulated Signals</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Simulated respiratory signal with Gaussian noise</a:t>
            </a:r>
          </a:p>
        </p:txBody>
      </p:sp>
      <p:sp>
        <p:nvSpPr>
          <p:cNvPr id="16" name="Rectangle 15">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Content Placeholder 4">
            <a:extLst>
              <a:ext uri="{FF2B5EF4-FFF2-40B4-BE49-F238E27FC236}">
                <a16:creationId xmlns:a16="http://schemas.microsoft.com/office/drawing/2014/main" id="{FBFF41F6-AA4E-88F5-DFCC-D20931C30649}"/>
              </a:ext>
            </a:extLst>
          </p:cNvPr>
          <p:cNvPicPr>
            <a:picLocks noChangeAspect="1"/>
          </p:cNvPicPr>
          <p:nvPr/>
        </p:nvPicPr>
        <p:blipFill>
          <a:blip r:embed="rId3"/>
          <a:stretch>
            <a:fillRect/>
          </a:stretch>
        </p:blipFill>
        <p:spPr>
          <a:xfrm>
            <a:off x="5350101" y="640080"/>
            <a:ext cx="5581913" cy="5577840"/>
          </a:xfrm>
          <a:prstGeom prst="rect">
            <a:avLst/>
          </a:prstGeom>
        </p:spPr>
      </p:pic>
    </p:spTree>
    <p:extLst>
      <p:ext uri="{BB962C8B-B14F-4D97-AF65-F5344CB8AC3E}">
        <p14:creationId xmlns:p14="http://schemas.microsoft.com/office/powerpoint/2010/main" val="143741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B05F43E-8612-E1E2-6A3F-418A06C18129}"/>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Data Collection</a:t>
            </a:r>
          </a:p>
        </p:txBody>
      </p:sp>
      <p:sp>
        <p:nvSpPr>
          <p:cNvPr id="3" name="Content Placeholder 2">
            <a:extLst>
              <a:ext uri="{FF2B5EF4-FFF2-40B4-BE49-F238E27FC236}">
                <a16:creationId xmlns:a16="http://schemas.microsoft.com/office/drawing/2014/main" id="{17101170-5114-39A1-0E3B-E693887931C3}"/>
              </a:ext>
            </a:extLst>
          </p:cNvPr>
          <p:cNvSpPr>
            <a:spLocks noGrp="1"/>
          </p:cNvSpPr>
          <p:nvPr>
            <p:ph idx="1"/>
          </p:nvPr>
        </p:nvSpPr>
        <p:spPr>
          <a:xfrm>
            <a:off x="492371" y="2653800"/>
            <a:ext cx="3084844" cy="3335519"/>
          </a:xfrm>
        </p:spPr>
        <p:txBody>
          <a:bodyPr>
            <a:normAutofit/>
          </a:bodyPr>
          <a:lstStyle/>
          <a:p>
            <a:pPr lvl="1">
              <a:buClr>
                <a:schemeClr val="bg1"/>
              </a:buClr>
              <a:buFont typeface="Arial" panose="020B0604020202020204" pitchFamily="34" charset="0"/>
              <a:buChar char="•"/>
            </a:pPr>
            <a:r>
              <a:rPr lang="en-US" dirty="0">
                <a:solidFill>
                  <a:srgbClr val="FFFFFF"/>
                </a:solidFill>
              </a:rPr>
              <a:t>Dräger </a:t>
            </a:r>
            <a:r>
              <a:rPr lang="en-US" dirty="0" err="1">
                <a:solidFill>
                  <a:srgbClr val="FFFFFF"/>
                </a:solidFill>
              </a:rPr>
              <a:t>PulmoVista</a:t>
            </a:r>
            <a:r>
              <a:rPr lang="en-US" dirty="0">
                <a:solidFill>
                  <a:srgbClr val="FFFFFF"/>
                </a:solidFill>
              </a:rPr>
              <a:t>® 500</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Single belt of 16 electrodes</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Current on 2 electrodes</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2 subjects</a:t>
            </a:r>
          </a:p>
        </p:txBody>
      </p:sp>
      <p:sp>
        <p:nvSpPr>
          <p:cNvPr id="4107" name="Rectangle 410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100" name="Picture 4" descr="Dräger PulmoVista® 500">
            <a:extLst>
              <a:ext uri="{FF2B5EF4-FFF2-40B4-BE49-F238E27FC236}">
                <a16:creationId xmlns:a16="http://schemas.microsoft.com/office/drawing/2014/main" id="{6ABADE2F-4D64-E3A8-DB22-B9ECE67B9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2317" y="434340"/>
            <a:ext cx="7985759" cy="5989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402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Simulated Validation</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Simulated respiratory signal with Gaussian noise</a:t>
            </a:r>
          </a:p>
        </p:txBody>
      </p:sp>
      <p:sp>
        <p:nvSpPr>
          <p:cNvPr id="25" name="Rectangle 2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Picture 3">
            <a:extLst>
              <a:ext uri="{FF2B5EF4-FFF2-40B4-BE49-F238E27FC236}">
                <a16:creationId xmlns:a16="http://schemas.microsoft.com/office/drawing/2014/main" id="{93E444AF-FC77-0C41-E39E-D24EB0EAA145}"/>
              </a:ext>
            </a:extLst>
          </p:cNvPr>
          <p:cNvPicPr>
            <a:picLocks noChangeAspect="1"/>
          </p:cNvPicPr>
          <p:nvPr/>
        </p:nvPicPr>
        <p:blipFill>
          <a:blip r:embed="rId3"/>
          <a:stretch>
            <a:fillRect/>
          </a:stretch>
        </p:blipFill>
        <p:spPr>
          <a:xfrm>
            <a:off x="5336194" y="247466"/>
            <a:ext cx="5615879" cy="4197015"/>
          </a:xfrm>
          <a:prstGeom prst="rect">
            <a:avLst/>
          </a:prstGeom>
        </p:spPr>
      </p:pic>
      <p:pic>
        <p:nvPicPr>
          <p:cNvPr id="7" name="Picture 6">
            <a:extLst>
              <a:ext uri="{FF2B5EF4-FFF2-40B4-BE49-F238E27FC236}">
                <a16:creationId xmlns:a16="http://schemas.microsoft.com/office/drawing/2014/main" id="{1EC20572-B9D6-2631-88FC-966114930464}"/>
              </a:ext>
            </a:extLst>
          </p:cNvPr>
          <p:cNvPicPr>
            <a:picLocks noChangeAspect="1"/>
          </p:cNvPicPr>
          <p:nvPr/>
        </p:nvPicPr>
        <p:blipFill>
          <a:blip r:embed="rId4"/>
          <a:stretch>
            <a:fillRect/>
          </a:stretch>
        </p:blipFill>
        <p:spPr>
          <a:xfrm>
            <a:off x="5459041" y="4444481"/>
            <a:ext cx="5493032" cy="2248016"/>
          </a:xfrm>
          <a:prstGeom prst="rect">
            <a:avLst/>
          </a:prstGeom>
        </p:spPr>
      </p:pic>
      <p:sp>
        <p:nvSpPr>
          <p:cNvPr id="3" name="Rectangle 2">
            <a:extLst>
              <a:ext uri="{FF2B5EF4-FFF2-40B4-BE49-F238E27FC236}">
                <a16:creationId xmlns:a16="http://schemas.microsoft.com/office/drawing/2014/main" id="{463792F1-1B78-1EB2-A94B-94647241AE73}"/>
              </a:ext>
            </a:extLst>
          </p:cNvPr>
          <p:cNvSpPr/>
          <p:nvPr/>
        </p:nvSpPr>
        <p:spPr>
          <a:xfrm>
            <a:off x="8374743" y="5775960"/>
            <a:ext cx="595086" cy="7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7319E75-3B89-102D-A0CD-49F1C40A454D}"/>
              </a:ext>
            </a:extLst>
          </p:cNvPr>
          <p:cNvSpPr/>
          <p:nvPr/>
        </p:nvSpPr>
        <p:spPr>
          <a:xfrm>
            <a:off x="10356987" y="5775960"/>
            <a:ext cx="595086" cy="7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818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Clinical Drift Artifact</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Patient 1</a:t>
            </a:r>
          </a:p>
          <a:p>
            <a:pPr lvl="1">
              <a:buClr>
                <a:schemeClr val="bg1"/>
              </a:buClr>
              <a:buFont typeface="Arial" panose="020B0604020202020204" pitchFamily="34" charset="0"/>
              <a:buChar char="•"/>
            </a:pPr>
            <a:r>
              <a:rPr lang="en-US" dirty="0">
                <a:solidFill>
                  <a:srgbClr val="FFFFFF"/>
                </a:solidFill>
              </a:rPr>
              <a:t>Moderate ARDS</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Mechanically ventilated</a:t>
            </a:r>
          </a:p>
        </p:txBody>
      </p:sp>
      <p:sp>
        <p:nvSpPr>
          <p:cNvPr id="34" name="Rectangle 3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F97829AE-DF99-4C17-52A1-465684FABF63}"/>
              </a:ext>
            </a:extLst>
          </p:cNvPr>
          <p:cNvPicPr>
            <a:picLocks noChangeAspect="1"/>
          </p:cNvPicPr>
          <p:nvPr/>
        </p:nvPicPr>
        <p:blipFill>
          <a:blip r:embed="rId3"/>
          <a:stretch>
            <a:fillRect/>
          </a:stretch>
        </p:blipFill>
        <p:spPr>
          <a:xfrm>
            <a:off x="4742017" y="793131"/>
            <a:ext cx="6798082" cy="5271738"/>
          </a:xfrm>
          <a:prstGeom prst="rect">
            <a:avLst/>
          </a:prstGeom>
        </p:spPr>
      </p:pic>
    </p:spTree>
    <p:extLst>
      <p:ext uri="{BB962C8B-B14F-4D97-AF65-F5344CB8AC3E}">
        <p14:creationId xmlns:p14="http://schemas.microsoft.com/office/powerpoint/2010/main" val="2908480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Clinical Step Artifact</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Patient 1</a:t>
            </a:r>
          </a:p>
          <a:p>
            <a:pPr lvl="1">
              <a:buClr>
                <a:schemeClr val="bg1"/>
              </a:buClr>
              <a:buFont typeface="Arial" panose="020B0604020202020204" pitchFamily="34" charset="0"/>
              <a:buChar char="•"/>
            </a:pPr>
            <a:r>
              <a:rPr lang="en-US" dirty="0">
                <a:solidFill>
                  <a:srgbClr val="FFFFFF"/>
                </a:solidFill>
              </a:rPr>
              <a:t>Moderate ARDS</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Mechanically ventilated</a:t>
            </a:r>
          </a:p>
        </p:txBody>
      </p:sp>
      <p:sp>
        <p:nvSpPr>
          <p:cNvPr id="34" name="Rectangle 3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0EF17B06-20AE-D034-F338-A339F3E23391}"/>
              </a:ext>
            </a:extLst>
          </p:cNvPr>
          <p:cNvPicPr>
            <a:picLocks noChangeAspect="1"/>
          </p:cNvPicPr>
          <p:nvPr/>
        </p:nvPicPr>
        <p:blipFill>
          <a:blip r:embed="rId3"/>
          <a:stretch>
            <a:fillRect/>
          </a:stretch>
        </p:blipFill>
        <p:spPr>
          <a:xfrm>
            <a:off x="4742017" y="788369"/>
            <a:ext cx="6798082" cy="5281262"/>
          </a:xfrm>
          <a:prstGeom prst="rect">
            <a:avLst/>
          </a:prstGeom>
        </p:spPr>
      </p:pic>
    </p:spTree>
    <p:extLst>
      <p:ext uri="{BB962C8B-B14F-4D97-AF65-F5344CB8AC3E}">
        <p14:creationId xmlns:p14="http://schemas.microsoft.com/office/powerpoint/2010/main" val="558358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69" y="516835"/>
            <a:ext cx="3266831" cy="2103875"/>
          </a:xfrm>
        </p:spPr>
        <p:txBody>
          <a:bodyPr>
            <a:normAutofit/>
          </a:bodyPr>
          <a:lstStyle/>
          <a:p>
            <a:r>
              <a:rPr lang="en-US" dirty="0">
                <a:solidFill>
                  <a:srgbClr val="FFFFFF"/>
                </a:solidFill>
              </a:rPr>
              <a:t>Clinical Spike Artifact</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Patient 2</a:t>
            </a:r>
          </a:p>
          <a:p>
            <a:pPr lvl="1">
              <a:buClr>
                <a:schemeClr val="bg1"/>
              </a:buClr>
              <a:buFont typeface="Arial" panose="020B0604020202020204" pitchFamily="34" charset="0"/>
              <a:buChar char="•"/>
            </a:pPr>
            <a:r>
              <a:rPr lang="en-US" dirty="0">
                <a:solidFill>
                  <a:srgbClr val="FFFFFF"/>
                </a:solidFill>
              </a:rPr>
              <a:t>Moderate COPD</a:t>
            </a:r>
          </a:p>
          <a:p>
            <a:pPr lvl="1">
              <a:buClr>
                <a:schemeClr val="bg1"/>
              </a:buClr>
              <a:buFont typeface="Arial" panose="020B0604020202020204" pitchFamily="34" charset="0"/>
              <a:buChar char="•"/>
            </a:pPr>
            <a:endParaRPr lang="en-US" dirty="0">
              <a:solidFill>
                <a:srgbClr val="FFFFFF"/>
              </a:solidFill>
            </a:endParaRPr>
          </a:p>
          <a:p>
            <a:pPr lvl="1">
              <a:buClr>
                <a:schemeClr val="bg1"/>
              </a:buClr>
              <a:buFont typeface="Arial" panose="020B0604020202020204" pitchFamily="34" charset="0"/>
              <a:buChar char="•"/>
            </a:pPr>
            <a:r>
              <a:rPr lang="en-US" dirty="0">
                <a:solidFill>
                  <a:srgbClr val="FFFFFF"/>
                </a:solidFill>
              </a:rPr>
              <a:t>Pulmonary rehabilitation</a:t>
            </a:r>
          </a:p>
        </p:txBody>
      </p:sp>
      <p:sp>
        <p:nvSpPr>
          <p:cNvPr id="34" name="Rectangle 3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454FFEB8-7707-1036-75C9-37ED95BFE5D5}"/>
              </a:ext>
            </a:extLst>
          </p:cNvPr>
          <p:cNvPicPr>
            <a:picLocks noChangeAspect="1"/>
          </p:cNvPicPr>
          <p:nvPr/>
        </p:nvPicPr>
        <p:blipFill>
          <a:blip r:embed="rId3"/>
          <a:stretch>
            <a:fillRect/>
          </a:stretch>
        </p:blipFill>
        <p:spPr>
          <a:xfrm>
            <a:off x="4742017" y="805036"/>
            <a:ext cx="6798082" cy="5247927"/>
          </a:xfrm>
          <a:prstGeom prst="rect">
            <a:avLst/>
          </a:prstGeom>
        </p:spPr>
      </p:pic>
    </p:spTree>
    <p:extLst>
      <p:ext uri="{BB962C8B-B14F-4D97-AF65-F5344CB8AC3E}">
        <p14:creationId xmlns:p14="http://schemas.microsoft.com/office/powerpoint/2010/main" val="1076184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06FDA1-1608-5BDF-A3BC-2170D2A2ACE2}"/>
              </a:ext>
            </a:extLst>
          </p:cNvPr>
          <p:cNvSpPr>
            <a:spLocks noGrp="1"/>
          </p:cNvSpPr>
          <p:nvPr>
            <p:ph type="title"/>
          </p:nvPr>
        </p:nvSpPr>
        <p:spPr>
          <a:xfrm>
            <a:off x="492370" y="516835"/>
            <a:ext cx="3084844" cy="2103875"/>
          </a:xfrm>
        </p:spPr>
        <p:txBody>
          <a:bodyPr>
            <a:normAutofit/>
          </a:bodyPr>
          <a:lstStyle/>
          <a:p>
            <a:r>
              <a:rPr lang="en-US" dirty="0">
                <a:solidFill>
                  <a:srgbClr val="FFFFFF"/>
                </a:solidFill>
              </a:rPr>
              <a:t>Clinical Summary</a:t>
            </a:r>
          </a:p>
        </p:txBody>
      </p:sp>
      <p:sp>
        <p:nvSpPr>
          <p:cNvPr id="9" name="Content Placeholder 8">
            <a:extLst>
              <a:ext uri="{FF2B5EF4-FFF2-40B4-BE49-F238E27FC236}">
                <a16:creationId xmlns:a16="http://schemas.microsoft.com/office/drawing/2014/main" id="{99A380E0-703E-7EA9-B101-0D8A304A11D7}"/>
              </a:ext>
            </a:extLst>
          </p:cNvPr>
          <p:cNvSpPr>
            <a:spLocks noGrp="1"/>
          </p:cNvSpPr>
          <p:nvPr>
            <p:ph idx="1"/>
          </p:nvPr>
        </p:nvSpPr>
        <p:spPr>
          <a:xfrm>
            <a:off x="492371" y="2653800"/>
            <a:ext cx="3084844" cy="3335519"/>
          </a:xfrm>
        </p:spPr>
        <p:txBody>
          <a:bodyPr>
            <a:normAutofit/>
          </a:bodyPr>
          <a:lstStyle/>
          <a:p>
            <a:endParaRPr lang="en-US" sz="1500" dirty="0">
              <a:solidFill>
                <a:srgbClr val="FFFFFF"/>
              </a:solidFill>
            </a:endParaRPr>
          </a:p>
          <a:p>
            <a:r>
              <a:rPr lang="en-US" dirty="0">
                <a:solidFill>
                  <a:srgbClr val="FFFFFF"/>
                </a:solidFill>
              </a:rPr>
              <a:t>Image correlations &gt;0.95</a:t>
            </a:r>
          </a:p>
        </p:txBody>
      </p:sp>
      <p:sp>
        <p:nvSpPr>
          <p:cNvPr id="43" name="Rectangle 4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Picture 3">
            <a:extLst>
              <a:ext uri="{FF2B5EF4-FFF2-40B4-BE49-F238E27FC236}">
                <a16:creationId xmlns:a16="http://schemas.microsoft.com/office/drawing/2014/main" id="{59108506-2018-DDF6-635C-DC69390F8C16}"/>
              </a:ext>
            </a:extLst>
          </p:cNvPr>
          <p:cNvPicPr>
            <a:picLocks noChangeAspect="1"/>
          </p:cNvPicPr>
          <p:nvPr/>
        </p:nvPicPr>
        <p:blipFill>
          <a:blip r:embed="rId3"/>
          <a:stretch>
            <a:fillRect/>
          </a:stretch>
        </p:blipFill>
        <p:spPr>
          <a:xfrm>
            <a:off x="4742017" y="2043891"/>
            <a:ext cx="6798082" cy="2770217"/>
          </a:xfrm>
          <a:prstGeom prst="rect">
            <a:avLst/>
          </a:prstGeom>
        </p:spPr>
      </p:pic>
    </p:spTree>
    <p:extLst>
      <p:ext uri="{BB962C8B-B14F-4D97-AF65-F5344CB8AC3E}">
        <p14:creationId xmlns:p14="http://schemas.microsoft.com/office/powerpoint/2010/main" val="4065090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99306-E743-7C4F-B67A-AA83F4C3877E}"/>
              </a:ext>
            </a:extLst>
          </p:cNvPr>
          <p:cNvSpPr>
            <a:spLocks noGrp="1"/>
          </p:cNvSpPr>
          <p:nvPr>
            <p:ph type="title"/>
          </p:nvPr>
        </p:nvSpPr>
        <p:spPr/>
        <p:txBody>
          <a:bodyPr/>
          <a:lstStyle/>
          <a:p>
            <a:r>
              <a:rPr lang="en-US" dirty="0"/>
              <a:t>DWT Comments</a:t>
            </a:r>
          </a:p>
        </p:txBody>
      </p:sp>
      <p:sp>
        <p:nvSpPr>
          <p:cNvPr id="3" name="Content Placeholder 2">
            <a:extLst>
              <a:ext uri="{FF2B5EF4-FFF2-40B4-BE49-F238E27FC236}">
                <a16:creationId xmlns:a16="http://schemas.microsoft.com/office/drawing/2014/main" id="{761EB12E-3DEC-0665-4970-B79BB9482A1F}"/>
              </a:ext>
            </a:extLst>
          </p:cNvPr>
          <p:cNvSpPr>
            <a:spLocks noGrp="1"/>
          </p:cNvSpPr>
          <p:nvPr>
            <p:ph idx="1"/>
          </p:nvPr>
        </p:nvSpPr>
        <p:spPr/>
        <p:txBody>
          <a:bodyPr>
            <a:normAutofit/>
          </a:bodyPr>
          <a:lstStyle/>
          <a:p>
            <a:pPr marL="201168" lvl="1" indent="0">
              <a:buClr>
                <a:schemeClr val="tx2"/>
              </a:buClr>
              <a:buNone/>
            </a:pPr>
            <a:r>
              <a:rPr lang="en-US" sz="2000" dirty="0"/>
              <a:t>From Authors</a:t>
            </a:r>
          </a:p>
          <a:p>
            <a:pPr lvl="2">
              <a:buClr>
                <a:schemeClr val="tx2"/>
              </a:buClr>
              <a:buFont typeface="Arial" panose="020B0604020202020204" pitchFamily="34" charset="0"/>
              <a:buChar char="•"/>
            </a:pPr>
            <a:r>
              <a:rPr lang="en-US" sz="2000" dirty="0"/>
              <a:t>Localization property of DWT is helpful</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r>
              <a:rPr lang="en-US" sz="2000" dirty="0"/>
              <a:t>One filter for three artifacts</a:t>
            </a:r>
          </a:p>
          <a:p>
            <a:pPr marL="201168" lvl="1" indent="0">
              <a:buClr>
                <a:schemeClr val="tx2"/>
              </a:buClr>
              <a:buNone/>
            </a:pPr>
            <a:endParaRPr lang="en-US" sz="2000" dirty="0"/>
          </a:p>
          <a:p>
            <a:pPr marL="201168" lvl="1" indent="0">
              <a:buClr>
                <a:schemeClr val="tx2"/>
              </a:buClr>
              <a:buNone/>
            </a:pPr>
            <a:r>
              <a:rPr lang="en-US" sz="2000" dirty="0"/>
              <a:t>Additional comments</a:t>
            </a:r>
          </a:p>
          <a:p>
            <a:pPr lvl="2">
              <a:buClr>
                <a:schemeClr val="tx2"/>
              </a:buClr>
              <a:buFont typeface="Arial" panose="020B0604020202020204" pitchFamily="34" charset="0"/>
              <a:buChar char="•"/>
            </a:pPr>
            <a:r>
              <a:rPr lang="en-US" sz="2000" dirty="0"/>
              <a:t>Are these filters the same for varying subjects? </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r>
              <a:rPr lang="en-US" sz="2000" dirty="0"/>
              <a:t>Did not provide exact parameters for wavelets corresponding to artifacts</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endParaRPr lang="en-US" sz="2000" dirty="0"/>
          </a:p>
        </p:txBody>
      </p:sp>
    </p:spTree>
    <p:extLst>
      <p:ext uri="{BB962C8B-B14F-4D97-AF65-F5344CB8AC3E}">
        <p14:creationId xmlns:p14="http://schemas.microsoft.com/office/powerpoint/2010/main" val="17060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2FD95-4A40-0DEA-DE42-6509D73108E8}"/>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A179474E-71F5-FF5D-AE38-05EEDB5E3A6A}"/>
              </a:ext>
            </a:extLst>
          </p:cNvPr>
          <p:cNvSpPr>
            <a:spLocks noGrp="1"/>
          </p:cNvSpPr>
          <p:nvPr>
            <p:ph idx="1"/>
          </p:nvPr>
        </p:nvSpPr>
        <p:spPr/>
        <p:txBody>
          <a:bodyPr>
            <a:normAutofit/>
          </a:bodyPr>
          <a:lstStyle/>
          <a:p>
            <a:pPr marL="201168" lvl="1" indent="0">
              <a:buClr>
                <a:schemeClr val="tx2"/>
              </a:buClr>
              <a:buNone/>
            </a:pPr>
            <a:r>
              <a:rPr lang="en-US" sz="2000" dirty="0"/>
              <a:t>From Authors</a:t>
            </a:r>
          </a:p>
          <a:p>
            <a:pPr lvl="2">
              <a:buClr>
                <a:schemeClr val="tx2"/>
              </a:buClr>
              <a:buFont typeface="Arial" panose="020B0604020202020204" pitchFamily="34" charset="0"/>
              <a:buChar char="•"/>
            </a:pPr>
            <a:r>
              <a:rPr lang="en-US" sz="2000" dirty="0"/>
              <a:t>Real-time processing</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r>
              <a:rPr lang="en-US" sz="2000" dirty="0"/>
              <a:t>Multi-artifact processing</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r>
              <a:rPr lang="en-US" sz="2000" dirty="0"/>
              <a:t>Other artifact sources</a:t>
            </a:r>
          </a:p>
          <a:p>
            <a:pPr marL="384048" lvl="2" indent="0">
              <a:buClr>
                <a:schemeClr val="tx2"/>
              </a:buClr>
              <a:buNone/>
            </a:pPr>
            <a:endParaRPr lang="en-US" sz="2000" dirty="0"/>
          </a:p>
          <a:p>
            <a:pPr marL="201168" lvl="1" indent="0">
              <a:buClr>
                <a:schemeClr val="tx2"/>
              </a:buClr>
              <a:buNone/>
            </a:pPr>
            <a:r>
              <a:rPr lang="en-US" sz="2000" dirty="0"/>
              <a:t>Additional limitations</a:t>
            </a:r>
          </a:p>
          <a:p>
            <a:pPr lvl="2">
              <a:buClr>
                <a:schemeClr val="tx2"/>
              </a:buClr>
              <a:buFont typeface="Arial" panose="020B0604020202020204" pitchFamily="34" charset="0"/>
              <a:buChar char="•"/>
            </a:pPr>
            <a:r>
              <a:rPr lang="en-US" sz="2000" dirty="0"/>
              <a:t>Number of subjects</a:t>
            </a:r>
          </a:p>
          <a:p>
            <a:pPr lvl="2">
              <a:buClr>
                <a:schemeClr val="tx2"/>
              </a:buClr>
              <a:buFont typeface="Arial" panose="020B0604020202020204" pitchFamily="34" charset="0"/>
              <a:buChar char="•"/>
            </a:pPr>
            <a:endParaRPr lang="en-US" sz="2000" dirty="0"/>
          </a:p>
          <a:p>
            <a:pPr lvl="2">
              <a:buClr>
                <a:schemeClr val="tx2"/>
              </a:buClr>
              <a:buFont typeface="Arial" panose="020B0604020202020204" pitchFamily="34" charset="0"/>
              <a:buChar char="•"/>
            </a:pPr>
            <a:r>
              <a:rPr lang="en-US" sz="2000" dirty="0"/>
              <a:t>More spike testing</a:t>
            </a:r>
          </a:p>
        </p:txBody>
      </p:sp>
    </p:spTree>
    <p:extLst>
      <p:ext uri="{BB962C8B-B14F-4D97-AF65-F5344CB8AC3E}">
        <p14:creationId xmlns:p14="http://schemas.microsoft.com/office/powerpoint/2010/main" val="2815010171"/>
      </p:ext>
    </p:extLst>
  </p:cSld>
  <p:clrMapOvr>
    <a:masterClrMapping/>
  </p:clrMapOvr>
</p:sld>
</file>

<file path=ppt/theme/theme1.xml><?xml version="1.0" encoding="utf-8"?>
<a:theme xmlns:a="http://schemas.openxmlformats.org/drawingml/2006/main" name="Retrospect">
  <a:themeElements>
    <a:clrScheme name="CSU Colors">
      <a:dk1>
        <a:srgbClr val="000000"/>
      </a:dk1>
      <a:lt1>
        <a:sysClr val="window" lastClr="FFFFFF"/>
      </a:lt1>
      <a:dk2>
        <a:srgbClr val="1E4D2B"/>
      </a:dk2>
      <a:lt2>
        <a:srgbClr val="CCDDEA"/>
      </a:lt2>
      <a:accent1>
        <a:srgbClr val="C8C372"/>
      </a:accent1>
      <a:accent2>
        <a:srgbClr val="1E4D2B"/>
      </a:accent2>
      <a:accent3>
        <a:srgbClr val="59595B"/>
      </a:accent3>
      <a:accent4>
        <a:srgbClr val="D9782D"/>
      </a:accent4>
      <a:accent5>
        <a:srgbClr val="1E4D2B"/>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4613</TotalTime>
  <Words>1600</Words>
  <Application>Microsoft Office PowerPoint</Application>
  <PresentationFormat>Widescreen</PresentationFormat>
  <Paragraphs>107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HelveticaNeueLTStd-Lt</vt:lpstr>
      <vt:lpstr>MinionPro-Regular</vt:lpstr>
      <vt:lpstr>source-serif-pro</vt:lpstr>
      <vt:lpstr>Retrospect</vt:lpstr>
      <vt:lpstr>Removing Clinical Motion Artifacts During Ventilation Monitoring With Electrical Impedance Tomography:  Introduction of Methodology and Validation With Simulation and Patient Data</vt:lpstr>
      <vt:lpstr>Clinical Artifacts in EIT</vt:lpstr>
      <vt:lpstr>Objective – DWT</vt:lpstr>
      <vt:lpstr>DWT Scheme</vt:lpstr>
      <vt:lpstr>Simulated Signals</vt:lpstr>
      <vt:lpstr>Data Collection</vt:lpstr>
      <vt:lpstr>Simulated Validation</vt:lpstr>
      <vt:lpstr>Clinical Drift Artifact</vt:lpstr>
      <vt:lpstr>Clinical Step Artifact</vt:lpstr>
      <vt:lpstr>Clinical Spike Artifact</vt:lpstr>
      <vt:lpstr>Clinical Summary</vt:lpstr>
      <vt:lpstr>DWT Comments</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Removing Clinical Motion Artifacts During Ventilation Monitoring With Electrical Impedance Tomography:  Introduction of Methodology and Validation With Simulation and Patient Data</dc:title>
  <dc:creator>Kyler Howard</dc:creator>
  <cp:lastModifiedBy>Kyler Howard</cp:lastModifiedBy>
  <cp:revision>1</cp:revision>
  <dcterms:created xsi:type="dcterms:W3CDTF">2023-04-28T17:03:18Z</dcterms:created>
  <dcterms:modified xsi:type="dcterms:W3CDTF">2025-04-08T19:24:54Z</dcterms:modified>
</cp:coreProperties>
</file>